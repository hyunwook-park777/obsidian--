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300kW급 수소 엔진 개발 - 연차별 추진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CCEE"/>
                </a:solidFill>
              </a:defRPr>
            </a:pPr>
            <a:r>
              <a:t>공동연구개발기관: 한국기계연구원 | 1단계 1~4차년도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 /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한국기계연구원(KIMM) | 산업기술혁신사업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80160"/>
            <a:ext cx="2743200" cy="411480"/>
          </a:xfrm>
          <a:prstGeom prst="roundRect">
            <a:avLst/>
          </a:prstGeom>
          <a:solidFill>
            <a:srgbClr val="006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1차년도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737360"/>
            <a:ext cx="2743200" cy="320040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시스템 구축 · 기초 성능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2651760" cy="96012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/>
          <a:lstStyle/>
          <a:p>
            <a:pPr algn="ctr">
              <a:lnSpc>
                <a:spcPts val="1400"/>
              </a:lnSpc>
              <a:defRPr sz="1000">
                <a:solidFill>
                  <a:srgbClr val="333333"/>
                </a:solidFill>
              </a:defRPr>
            </a:pPr>
            <a:r>
              <a:t>동력계 엔진 성능 평가</a:t>
            </a:r>
            <a:br/>
            <a:r>
              <a:t>시스템 구축 (460kW AC동력계)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46120"/>
            <a:ext cx="2651760" cy="96012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/>
          <a:lstStyle/>
          <a:p>
            <a:pPr algn="ctr">
              <a:lnSpc>
                <a:spcPts val="1400"/>
              </a:lnSpc>
              <a:defRPr sz="1000">
                <a:solidFill>
                  <a:srgbClr val="333333"/>
                </a:solidFill>
              </a:defRPr>
            </a:pPr>
            <a:r>
              <a:t>수소 연료 공급 설비 증축</a:t>
            </a:r>
            <a:br/>
            <a:r>
              <a:t>(35kg 저장, 60bar 대응)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97680"/>
            <a:ext cx="2651760" cy="96012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/>
          <a:lstStyle/>
          <a:p>
            <a:pPr algn="ctr">
              <a:lnSpc>
                <a:spcPts val="1400"/>
              </a:lnSpc>
              <a:defRPr sz="1000">
                <a:solidFill>
                  <a:srgbClr val="333333"/>
                </a:solidFill>
              </a:defRPr>
            </a:pPr>
            <a:r>
              <a:t>베이스 천연가스 엔진</a:t>
            </a:r>
            <a:br/>
            <a:r>
              <a:t>(GX12) 성능 DB 구축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349240"/>
            <a:ext cx="2651760" cy="96012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/>
          <a:lstStyle/>
          <a:p>
            <a:pPr algn="ctr">
              <a:lnSpc>
                <a:spcPts val="1400"/>
              </a:lnSpc>
              <a:defRPr sz="1000">
                <a:solidFill>
                  <a:srgbClr val="333333"/>
                </a:solidFill>
              </a:defRPr>
            </a:pPr>
            <a:r>
              <a:t>수소 엔진 기초 시험</a:t>
            </a:r>
            <a:br/>
            <a:r>
              <a:t>→ 열효율 2.8%p 향상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6492240"/>
            <a:ext cx="2743200" cy="36576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★ 열효율 2.8%p 향상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1280160"/>
            <a:ext cx="2743200" cy="411480"/>
          </a:xfrm>
          <a:prstGeom prst="roundRect">
            <a:avLst/>
          </a:prstGeom>
          <a:solidFill>
            <a:srgbClr val="004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2차년도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1737360"/>
            <a:ext cx="2743200" cy="320040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하드웨어 선정 · 요소기술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2194560"/>
            <a:ext cx="2651760" cy="96012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/>
          <a:lstStyle/>
          <a:p>
            <a:pPr algn="ctr">
              <a:lnSpc>
                <a:spcPts val="1400"/>
              </a:lnSpc>
              <a:defRPr sz="1000">
                <a:solidFill>
                  <a:srgbClr val="333333"/>
                </a:solidFill>
              </a:defRPr>
            </a:pPr>
            <a:r>
              <a:t>냉형 점화플러그 적용</a:t>
            </a:r>
            <a:br/>
            <a:r>
              <a:t>→ 이른 조기점화 억제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3246120"/>
            <a:ext cx="2651760" cy="96012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/>
          <a:lstStyle/>
          <a:p>
            <a:pPr algn="ctr">
              <a:lnSpc>
                <a:spcPts val="1400"/>
              </a:lnSpc>
              <a:defRPr sz="1000">
                <a:solidFill>
                  <a:srgbClr val="333333"/>
                </a:solidFill>
              </a:defRPr>
            </a:pPr>
            <a:r>
              <a:t>포트분사 인젝터 선정</a:t>
            </a:r>
            <a:br/>
            <a:r>
              <a:t>(분사 인가기간 &lt;10ms)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4297680"/>
            <a:ext cx="2651760" cy="96012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/>
          <a:lstStyle/>
          <a:p>
            <a:pPr algn="ctr">
              <a:lnSpc>
                <a:spcPts val="1400"/>
              </a:lnSpc>
              <a:defRPr sz="1000">
                <a:solidFill>
                  <a:srgbClr val="333333"/>
                </a:solidFill>
              </a:defRPr>
            </a:pPr>
            <a:r>
              <a:t>최적 압축비 11:1 선정</a:t>
            </a:r>
            <a:br/>
            <a:r>
              <a:t>→ 열효율 ~1%p 향상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7560" y="5349240"/>
            <a:ext cx="2651760" cy="96012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/>
          <a:lstStyle/>
          <a:p>
            <a:pPr algn="ctr">
              <a:lnSpc>
                <a:spcPts val="1400"/>
              </a:lnSpc>
              <a:defRPr sz="1000">
                <a:solidFill>
                  <a:srgbClr val="333333"/>
                </a:solidFill>
              </a:defRPr>
            </a:pPr>
            <a:r>
              <a:t>피스톤 형상 Type C 제안</a:t>
            </a:r>
            <a:br/>
            <a:r>
              <a:t>→ 이상연소 동시 억제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6492240"/>
            <a:ext cx="2743200" cy="36576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★ 압축비 11:1 + Type 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1280160"/>
            <a:ext cx="2743200" cy="41148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3차년도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1737360"/>
            <a:ext cx="2743200" cy="320040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NOx 저감 · 후처리시스템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194560"/>
            <a:ext cx="2651760" cy="96012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/>
          <a:lstStyle/>
          <a:p>
            <a:pPr algn="ctr">
              <a:lnSpc>
                <a:spcPts val="1400"/>
              </a:lnSpc>
              <a:defRPr sz="1000">
                <a:solidFill>
                  <a:srgbClr val="333333"/>
                </a:solidFill>
              </a:defRPr>
            </a:pPr>
            <a:r>
              <a:t>NOx 저감 연소 제어 전략</a:t>
            </a:r>
            <a:br/>
            <a:r>
              <a:t>(분사/점화시기, 공기과잉률)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246120"/>
            <a:ext cx="2651760" cy="96012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/>
          <a:lstStyle/>
          <a:p>
            <a:pPr algn="ctr">
              <a:lnSpc>
                <a:spcPts val="1400"/>
              </a:lnSpc>
              <a:defRPr sz="1000">
                <a:solidFill>
                  <a:srgbClr val="333333"/>
                </a:solidFill>
              </a:defRPr>
            </a:pPr>
            <a:r>
              <a:t>저부하 EGR 전략</a:t>
            </a:r>
            <a:br/>
            <a:r>
              <a:t>→ 펌핑손실 저감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297680"/>
            <a:ext cx="2651760" cy="96012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/>
          <a:lstStyle/>
          <a:p>
            <a:pPr algn="ctr">
              <a:lnSpc>
                <a:spcPts val="1400"/>
              </a:lnSpc>
              <a:defRPr sz="1000">
                <a:solidFill>
                  <a:srgbClr val="333333"/>
                </a:solidFill>
              </a:defRPr>
            </a:pPr>
            <a:r>
              <a:t>후처리시스템 간소화</a:t>
            </a:r>
            <a:br/>
            <a:r>
              <a:t>DOC + SCR (DPF 삭제)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5349240"/>
            <a:ext cx="2651760" cy="96012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/>
          <a:lstStyle/>
          <a:p>
            <a:pPr algn="ctr">
              <a:lnSpc>
                <a:spcPts val="1400"/>
              </a:lnSpc>
              <a:defRPr sz="1000">
                <a:solidFill>
                  <a:srgbClr val="333333"/>
                </a:solidFill>
              </a:defRPr>
            </a:pPr>
            <a:r>
              <a:t>엔진-후처리 연계 시험</a:t>
            </a:r>
            <a:br/>
            <a:r>
              <a:t>→ Euro 7 배출규제 충족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6492240"/>
            <a:ext cx="2743200" cy="36576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★ Euro 7 충족 달성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2560" y="1280160"/>
            <a:ext cx="2743200" cy="411480"/>
          </a:xfrm>
          <a:prstGeom prst="round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4차년도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52560" y="1737360"/>
            <a:ext cx="2743200" cy="320040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통합제어 · 고성능화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98280" y="2194560"/>
            <a:ext cx="2651760" cy="96012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/>
          <a:lstStyle/>
          <a:p>
            <a:pPr algn="ctr">
              <a:lnSpc>
                <a:spcPts val="1400"/>
              </a:lnSpc>
              <a:defRPr sz="1000">
                <a:solidFill>
                  <a:srgbClr val="333333"/>
                </a:solidFill>
              </a:defRPr>
            </a:pPr>
            <a:r>
              <a:t>운전영역별 연소-후처리</a:t>
            </a:r>
            <a:br/>
            <a:r>
              <a:t>통합제어 전략 도출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8280" y="3246120"/>
            <a:ext cx="2651760" cy="96012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/>
          <a:lstStyle/>
          <a:p>
            <a:pPr algn="ctr">
              <a:lnSpc>
                <a:spcPts val="1400"/>
              </a:lnSpc>
              <a:defRPr sz="1000">
                <a:solidFill>
                  <a:srgbClr val="333333"/>
                </a:solidFill>
              </a:defRPr>
            </a:pPr>
            <a:r>
              <a:t>주행 사이클 대응</a:t>
            </a:r>
            <a:br/>
            <a:r>
              <a:t>(WHSC/WHTC/NRSC/NRTC)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98280" y="4297680"/>
            <a:ext cx="2651760" cy="96012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/>
          <a:lstStyle/>
          <a:p>
            <a:pPr algn="ctr">
              <a:lnSpc>
                <a:spcPts val="1400"/>
              </a:lnSpc>
              <a:defRPr sz="1000">
                <a:solidFill>
                  <a:srgbClr val="333333"/>
                </a:solidFill>
              </a:defRPr>
            </a:pPr>
            <a:r>
              <a:t>2-stage 터보차저 적용</a:t>
            </a:r>
            <a:br/>
            <a:r>
              <a:t>→ 저속토크 42.6% 향상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98280" y="5349240"/>
            <a:ext cx="2651760" cy="96012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/>
          <a:lstStyle/>
          <a:p>
            <a:pPr algn="ctr">
              <a:lnSpc>
                <a:spcPts val="1400"/>
              </a:lnSpc>
              <a:defRPr sz="1000">
                <a:solidFill>
                  <a:srgbClr val="333333"/>
                </a:solidFill>
              </a:defRPr>
            </a:pPr>
            <a:r>
              <a:t>고성능 수소엔진</a:t>
            </a:r>
            <a:br/>
            <a:r>
              <a:t>개발 로드맵 제시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52560" y="6492240"/>
            <a:ext cx="2743200" cy="36576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★ 저속토크 42.6% 향상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핵심결과 (1) - 핵심 요소기술 개발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CCEE"/>
                </a:solidFill>
              </a:defRPr>
            </a:pPr>
            <a:r>
              <a:t>냉형 점화플러그 · 포트분사 인젝터 · 피스톤 형상 최적화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2 /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한국기계연구원(KIMM) | 산업기술혁신사업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2B5C"/>
                </a:solidFill>
              </a:defRPr>
            </a:pPr>
            <a:r>
              <a:t>1  냉형 점화플러그 적용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600200"/>
          <a:ext cx="530352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965960"/>
                <a:gridCol w="1965960"/>
              </a:tblGrid>
              <a:tr h="42291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항목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베이스 점화플러그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냉형 점화플러그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이른 조기점화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C0392B"/>
                          </a:solidFill>
                        </a:defRPr>
                      </a:pPr>
                      <a:r>
                        <a:t>고부하 빈번 발생</a:t>
                      </a:r>
                      <a:br/>
                      <a:r>
                        <a:t>→ 순간 출력 하락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7A33"/>
                          </a:solidFill>
                        </a:defRPr>
                      </a:pPr>
                      <a:r>
                        <a:t>완전 억제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늦은 조기점화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C0392B"/>
                          </a:solidFill>
                        </a:defRPr>
                      </a:pPr>
                      <a:r>
                        <a:t>다수 발생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7A33"/>
                          </a:solidFill>
                        </a:defRPr>
                      </a:pPr>
                      <a:r>
                        <a:t>발생빈도 대폭 감소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100% 부하 운전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C0392B"/>
                          </a:solidFill>
                        </a:defRPr>
                      </a:pPr>
                      <a:r>
                        <a:t>운전 제한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7A33"/>
                          </a:solidFill>
                        </a:defRPr>
                      </a:pPr>
                      <a:r>
                        <a:t>고부하 안정 운전 확보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57200" y="3383280"/>
            <a:ext cx="5303520" cy="365760"/>
          </a:xfrm>
          <a:prstGeom prst="roundRect">
            <a:avLst/>
          </a:prstGeom>
          <a:solidFill>
            <a:srgbClr val="D4EDDA"/>
          </a:solidFill>
          <a:ln w="19050"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000" b="1">
                <a:solidFill>
                  <a:srgbClr val="007A33"/>
                </a:solidFill>
              </a:defRPr>
            </a:pPr>
            <a:r>
              <a:t>점화플러그 온도 저감 → λ 2.0~2.2에서 이른 조기점화 완전 억제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2B5C"/>
                </a:solidFill>
              </a:defRPr>
            </a:pPr>
            <a:r>
              <a:t>2  포트분사 인젝터 사양 선정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0" y="1600200"/>
          <a:ext cx="530352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965960"/>
                <a:gridCol w="1965960"/>
              </a:tblGrid>
              <a:tr h="42291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평가 항목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작은 구경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큰 구경 (선정)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아이들 안정성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C0392B"/>
                          </a:solidFill>
                        </a:defRPr>
                      </a:pPr>
                      <a:r>
                        <a:t>유리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7A33"/>
                          </a:solidFill>
                        </a:defRPr>
                      </a:pPr>
                      <a:r>
                        <a:t>COV of IMEP &lt; 3%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분사 인가기간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C0392B"/>
                          </a:solidFill>
                        </a:defRPr>
                      </a:pPr>
                      <a:r>
                        <a:t>과도 → 이상연소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7A33"/>
                          </a:solidFill>
                        </a:defRPr>
                      </a:pPr>
                      <a:r>
                        <a:t>&lt; 10ms 만족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300kW 대응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C0392B"/>
                          </a:solidFill>
                        </a:defRPr>
                      </a:pPr>
                      <a:r>
                        <a:t>불가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7A33"/>
                          </a:solidFill>
                        </a:defRPr>
                      </a:pPr>
                      <a:r>
                        <a:t>충분한 연료 공급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400800" y="3383280"/>
            <a:ext cx="5303520" cy="365760"/>
          </a:xfrm>
          <a:prstGeom prst="roundRect">
            <a:avLst/>
          </a:prstGeom>
          <a:solidFill>
            <a:srgbClr val="D4EDDA"/>
          </a:solidFill>
          <a:ln w="19050"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000" b="1">
                <a:solidFill>
                  <a:srgbClr val="007A33"/>
                </a:solidFill>
              </a:defRPr>
            </a:pPr>
            <a:r>
              <a:t>정격출력 300kW + 아이들 안정성 동시 만족하는 큰 구경 인젝터 선정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7763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2B5C"/>
                </a:solidFill>
              </a:defRPr>
            </a:pPr>
            <a:r>
              <a:t>3  피스톤 형상 최적화 (압축비 + 연소실 형상)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57200" y="438912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1371600"/>
                <a:gridCol w="3657600"/>
                <a:gridCol w="34747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사양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압축비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Squish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특성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열효율 성과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Base (GX12)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10:1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기본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천연가스 엔진 기준 설계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기준선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Type 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11:1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기본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압축비 증대 → 열효율 향상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~1%p 향상, 조기점화 없음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Type B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11:1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좁음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화염전파 유리, 고부하 노킹 취약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연소효율 소폭 증가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86C00"/>
                          </a:solidFill>
                        </a:defRPr>
                      </a:pPr>
                      <a:r>
                        <a:t>Type C (최종)</a:t>
                      </a:r>
                    </a:p>
                  </a:txBody>
                  <a:tcPr anchor="ctr"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86C00"/>
                          </a:solidFill>
                        </a:defRPr>
                      </a:pPr>
                      <a:r>
                        <a:t>11:1</a:t>
                      </a:r>
                    </a:p>
                  </a:txBody>
                  <a:tcPr anchor="ctr"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E86C00"/>
                          </a:solidFill>
                        </a:defRPr>
                      </a:pPr>
                      <a:r>
                        <a:t>넓음</a:t>
                      </a:r>
                    </a:p>
                  </a:txBody>
                  <a:tcPr anchor="ctr"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E86C00"/>
                          </a:solidFill>
                        </a:defRPr>
                      </a:pPr>
                      <a:r>
                        <a:t>Squish 유동 강화 → 조기점화+노킹 동시 억제</a:t>
                      </a:r>
                    </a:p>
                  </a:txBody>
                  <a:tcPr anchor="ctr"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E86C00"/>
                          </a:solidFill>
                        </a:defRPr>
                      </a:pPr>
                      <a:r>
                        <a:t>40.4% (1800rpm) / 41.4% (1200rpm)</a:t>
                      </a:r>
                    </a:p>
                  </a:txBody>
                  <a:tcPr anchor="ctr"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핵심결과 (2) - 통합제어 전략 및 고성능화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CCEE"/>
                </a:solidFill>
              </a:defRPr>
            </a:pPr>
            <a:r>
              <a:t>운전영역별 연소-후처리 통합제어 · 2-Stage 터보차저 · 향후 로드맵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3 /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한국기계연구원(KIMM) | 산업기술혁신사업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2B5C"/>
                </a:solidFill>
              </a:defRPr>
            </a:pPr>
            <a:r>
              <a:t>4  운전영역별 연소-후처리 통합제어 전략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60020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554480"/>
                <a:gridCol w="1371600"/>
                <a:gridCol w="137160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운전영역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열효율 지배인자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NOx 제어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제한 요소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중속 저부하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공기과잉률 지배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높은 λ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중속 중/고부하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연소상+λ 동시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높은 λ+지각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NOx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고속 저/중부하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연소상+λ 동시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낮은 λ 가능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고속 고부하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연소상 지배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낮은 λ+지각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노킹/조기점화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74903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2B5C"/>
                </a:solidFill>
              </a:defRPr>
            </a:pPr>
            <a:r>
              <a:t>최종 전략 요약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4069080"/>
          <a:ext cx="54864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286000"/>
                <a:gridCol w="2286000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부하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중속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고속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저부하</a:t>
                      </a:r>
                    </a:p>
                  </a:txBody>
                  <a:tcPr anchor="ctr">
                    <a:solidFill>
                      <a:srgbClr val="CCE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높은 λ + 최적 연소상</a:t>
                      </a:r>
                      <a:br/>
                      <a:r>
                        <a:t>→ 최고 열효율</a:t>
                      </a:r>
                    </a:p>
                  </a:txBody>
                  <a:tcPr anchor="ctr">
                    <a:solidFill>
                      <a:srgbClr val="CCE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낮은 λ + 최적 연소상</a:t>
                      </a:r>
                    </a:p>
                  </a:txBody>
                  <a:tcPr anchor="ctr">
                    <a:solidFill>
                      <a:srgbClr val="CCE5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33333"/>
                          </a:solidFill>
                        </a:defRPr>
                      </a:pPr>
                      <a:r>
                        <a:t>고부하</a:t>
                      </a:r>
                    </a:p>
                  </a:txBody>
                  <a:tcPr anchor="ctr"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높은 λ + 지각 연소상</a:t>
                      </a:r>
                      <a:br/>
                      <a:r>
                        <a:t>→ NOx 억제</a:t>
                      </a:r>
                    </a:p>
                  </a:txBody>
                  <a:tcPr anchor="ctr"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낮은 λ + 지각 연소상</a:t>
                      </a:r>
                      <a:br/>
                      <a:r>
                        <a:t>→ 출력 확보</a:t>
                      </a:r>
                    </a:p>
                  </a:txBody>
                  <a:tcPr anchor="ctr"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57200" y="5120640"/>
            <a:ext cx="2651760" cy="50292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디젤: DOC→DPF→SCR</a:t>
            </a:r>
            <a:br/>
            <a:r>
              <a:t>(3단 구성)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5166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7A33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5120640"/>
            <a:ext cx="2514600" cy="502920"/>
          </a:xfrm>
          <a:prstGeom prst="round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수소: DOC→SCR</a:t>
            </a:r>
            <a:br/>
            <a:r>
              <a:t>(2단, DPF삭제+사이즈축소)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715000"/>
            <a:ext cx="5486400" cy="411480"/>
          </a:xfrm>
          <a:prstGeom prst="roundRect">
            <a:avLst/>
          </a:prstGeom>
          <a:solidFill>
            <a:srgbClr val="D4EDDA"/>
          </a:solidFill>
          <a:ln w="19050"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100" b="1">
                <a:solidFill>
                  <a:srgbClr val="007A33"/>
                </a:solidFill>
              </a:defRPr>
            </a:pPr>
            <a:r>
              <a:t>TC후단 400℃↑ → Urea SCR 99% 변환효율 → Euro 7 충족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2B5C"/>
                </a:solidFill>
              </a:defRPr>
            </a:pPr>
            <a:r>
              <a:t>5  2-Stage 터보차저 적용 성과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400800" y="1600200"/>
          <a:ext cx="53035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097280"/>
                <a:gridCol w="155448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속도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토크 향상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제한 요소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최적화 전략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저속</a:t>
                      </a:r>
                    </a:p>
                  </a:txBody>
                  <a:tcPr anchor="ctr"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E86C00"/>
                          </a:solidFill>
                        </a:defRPr>
                      </a:pPr>
                      <a:r>
                        <a:t>+42.6%</a:t>
                      </a:r>
                    </a:p>
                  </a:txBody>
                  <a:tcPr anchor="ctr"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조기점화</a:t>
                      </a:r>
                      <a:br/>
                      <a:r>
                        <a:t>배기에너지 부족</a:t>
                      </a:r>
                    </a:p>
                  </a:txBody>
                  <a:tcPr anchor="ctr"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점화시기 지각</a:t>
                      </a:r>
                      <a:br/>
                      <a:r>
                        <a:t>+ 적정 당량비</a:t>
                      </a:r>
                    </a:p>
                  </a:txBody>
                  <a:tcPr anchor="ctr">
                    <a:solidFill>
                      <a:srgbClr val="FFF3C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중속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86C00"/>
                          </a:solidFill>
                        </a:defRPr>
                      </a:pPr>
                      <a:r>
                        <a:t>+6.1%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인터쿨러 전단온도</a:t>
                      </a:r>
                      <a:br/>
                      <a:r>
                        <a:t>NOx 배출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고정 과급압에서</a:t>
                      </a:r>
                      <a:br/>
                      <a:r>
                        <a:t>당량비 최적화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고속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86C00"/>
                          </a:solidFill>
                        </a:defRPr>
                      </a:pPr>
                      <a:r>
                        <a:t>+3.4%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인터쿨러 전단온도</a:t>
                      </a:r>
                      <a:br/>
                      <a:r>
                        <a:t>조기점화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</a:defRPr>
                      </a:pPr>
                      <a:r>
                        <a:t>NOx 마진 활용</a:t>
                      </a:r>
                      <a:br/>
                      <a:r>
                        <a:t>당량비 상향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4008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2B5C"/>
                </a:solidFill>
              </a:defRPr>
            </a:pPr>
            <a:r>
              <a:t>저속 토크 향상 메커니즘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520440"/>
            <a:ext cx="5303520" cy="13716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004E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/>
          <a:lstStyle/>
          <a:p>
            <a:pPr algn="ctr">
              <a:lnSpc>
                <a:spcPts val="1300"/>
              </a:lnSpc>
              <a:defRPr sz="900">
                <a:solidFill>
                  <a:srgbClr val="333333"/>
                </a:solidFill>
              </a:defRPr>
            </a:pPr>
            <a:r>
              <a:t>▸ 점화시기 지각 → 배기에너지 확보 → 과급압 형성 (가장 효과적)</a:t>
            </a:r>
          </a:p>
          <a:p>
            <a:pPr>
              <a:lnSpc>
                <a:spcPts val="1300"/>
              </a:lnSpc>
              <a:defRPr sz="900">
                <a:solidFill>
                  <a:srgbClr val="333333"/>
                </a:solidFill>
              </a:defRPr>
            </a:pPr>
            <a:r>
              <a:t>   └ 한계: 실린더 압력/온도 상승 → 조기점화 발생</a:t>
            </a:r>
          </a:p>
          <a:p>
            <a:pPr>
              <a:lnSpc>
                <a:spcPts val="1300"/>
              </a:lnSpc>
              <a:defRPr sz="900">
                <a:solidFill>
                  <a:srgbClr val="333333"/>
                </a:solidFill>
              </a:defRPr>
            </a:pPr>
            <a:r>
              <a:t>▸ 당량비 최적화:</a:t>
            </a:r>
          </a:p>
          <a:p>
            <a:pPr>
              <a:lnSpc>
                <a:spcPts val="1300"/>
              </a:lnSpc>
              <a:defRPr sz="900">
                <a:solidFill>
                  <a:srgbClr val="333333"/>
                </a:solidFill>
              </a:defRPr>
            </a:pPr>
            <a:r>
              <a:t>   └ 낮은 당량비: VGT duty↑ → 배기압↑ → 잔여가스↑ → 조기점화</a:t>
            </a:r>
          </a:p>
          <a:p>
            <a:pPr>
              <a:lnSpc>
                <a:spcPts val="1300"/>
              </a:lnSpc>
              <a:defRPr sz="900">
                <a:solidFill>
                  <a:srgbClr val="333333"/>
                </a:solidFill>
              </a:defRPr>
            </a:pPr>
            <a:r>
              <a:t>   └ 높은 당량비: 연소온도↑ → 조기점화 재발생</a:t>
            </a:r>
          </a:p>
          <a:p>
            <a:pPr>
              <a:lnSpc>
                <a:spcPts val="1300"/>
              </a:lnSpc>
              <a:defRPr sz="900">
                <a:solidFill>
                  <a:srgbClr val="333333"/>
                </a:solidFill>
              </a:defRPr>
            </a:pPr>
            <a:r>
              <a:t>   └ 적정 당량비에서 조기점화 최소 + 열효율 최적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029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2B5C"/>
                </a:solidFill>
              </a:defRPr>
            </a:pPr>
            <a:r>
              <a:t>향후 고성능화 로드맵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5349240"/>
            <a:ext cx="1691640" cy="320040"/>
          </a:xfrm>
          <a:prstGeom prst="roundRect">
            <a:avLst/>
          </a:prstGeom>
          <a:solidFill>
            <a:srgbClr val="004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하이브리드화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5715000"/>
            <a:ext cx="1691640" cy="4114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004E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저속토크/반응성 보완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80" y="5349240"/>
            <a:ext cx="1691640" cy="32004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2단 인터쿨러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80" y="5715000"/>
            <a:ext cx="1691640" cy="4114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중/고속 토크 추가 향상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66960" y="5349240"/>
            <a:ext cx="1691640" cy="32004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Blowby 관리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66960" y="5715000"/>
            <a:ext cx="1691640" cy="4114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5%↑ H₂ 열점 관리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