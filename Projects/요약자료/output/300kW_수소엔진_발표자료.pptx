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300kW급 수소 엔진 개발 - 연차별 추진 요약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AACCEE"/>
                </a:solidFill>
              </a:defRPr>
            </a:pPr>
            <a:r>
              <a:t>공동연구개발기관: 한국기계연구원 | 1단계 1~4차년도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1 /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</a:defRPr>
            </a:pPr>
            <a:r>
              <a:t>한국기계연구원(KIMM) | 산업기술혁신사업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280160"/>
            <a:ext cx="2743200" cy="411480"/>
          </a:xfrm>
          <a:prstGeom prst="roundRect">
            <a:avLst/>
          </a:prstGeom>
          <a:solidFill>
            <a:srgbClr val="006B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1차년도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1737360"/>
            <a:ext cx="2743200" cy="320040"/>
          </a:xfrm>
          <a:prstGeom prst="round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defRPr sz="1100" b="1">
                <a:solidFill>
                  <a:srgbClr val="333333"/>
                </a:solidFill>
              </a:defRPr>
            </a:pPr>
            <a:r>
              <a:t>시스템 구축 · 기초 성능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194560"/>
            <a:ext cx="2651760" cy="960120"/>
          </a:xfrm>
          <a:prstGeom prst="roundRect">
            <a:avLst/>
          </a:prstGeom>
          <a:solidFill>
            <a:srgbClr val="F2F2F2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63500" bIns="63500"/>
          <a:lstStyle/>
          <a:p>
            <a:pPr algn="ctr">
              <a:lnSpc>
                <a:spcPts val="1400"/>
              </a:lnSpc>
              <a:defRPr sz="1000">
                <a:solidFill>
                  <a:srgbClr val="333333"/>
                </a:solidFill>
              </a:defRPr>
            </a:pPr>
            <a:r>
              <a:t>동력계 엔진 성능 평가 시스템 구축</a:t>
            </a:r>
            <a:br/>
            <a:r>
              <a:t>(460kW AC동력계)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246120"/>
            <a:ext cx="2651760" cy="960120"/>
          </a:xfrm>
          <a:prstGeom prst="roundRect">
            <a:avLst/>
          </a:prstGeom>
          <a:solidFill>
            <a:srgbClr val="F2F2F2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63500" bIns="63500"/>
          <a:lstStyle/>
          <a:p>
            <a:pPr algn="ctr">
              <a:lnSpc>
                <a:spcPts val="1400"/>
              </a:lnSpc>
              <a:defRPr sz="1000">
                <a:solidFill>
                  <a:srgbClr val="333333"/>
                </a:solidFill>
              </a:defRPr>
            </a:pPr>
            <a:r>
              <a:t>수소 연료 공급 설비 증축</a:t>
            </a:r>
            <a:br/>
            <a:r>
              <a:t>(35kg 저장, 60bar 대응)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297680"/>
            <a:ext cx="2651760" cy="960120"/>
          </a:xfrm>
          <a:prstGeom prst="roundRect">
            <a:avLst/>
          </a:prstGeom>
          <a:solidFill>
            <a:srgbClr val="F2F2F2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63500" bIns="63500"/>
          <a:lstStyle/>
          <a:p>
            <a:pPr algn="ctr">
              <a:lnSpc>
                <a:spcPts val="1400"/>
              </a:lnSpc>
              <a:defRPr sz="1000">
                <a:solidFill>
                  <a:srgbClr val="333333"/>
                </a:solidFill>
              </a:defRPr>
            </a:pPr>
            <a:r>
              <a:t>베이스 천연가스 엔진(GX12)</a:t>
            </a:r>
            <a:br/>
            <a:r>
              <a:t>성능 DB 구축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5349240"/>
            <a:ext cx="2651760" cy="960120"/>
          </a:xfrm>
          <a:prstGeom prst="roundRect">
            <a:avLst/>
          </a:prstGeom>
          <a:solidFill>
            <a:srgbClr val="F2F2F2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63500" bIns="63500"/>
          <a:lstStyle/>
          <a:p>
            <a:pPr algn="ctr">
              <a:lnSpc>
                <a:spcPts val="1400"/>
              </a:lnSpc>
              <a:defRPr sz="1000">
                <a:solidFill>
                  <a:srgbClr val="333333"/>
                </a:solidFill>
              </a:defRPr>
            </a:pPr>
            <a:r>
              <a:t>수소 엔진 기초 시험</a:t>
            </a:r>
            <a:br/>
            <a:r>
              <a:t>→ 천연가스 대비 열효율 2.8%p↑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6492240"/>
            <a:ext cx="2743200" cy="365760"/>
          </a:xfrm>
          <a:prstGeom prst="round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★ 열효율 2.8%p 향상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91840" y="1280160"/>
            <a:ext cx="2743200" cy="411480"/>
          </a:xfrm>
          <a:prstGeom prst="roundRect">
            <a:avLst/>
          </a:prstGeom>
          <a:solidFill>
            <a:srgbClr val="004E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2차년도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91840" y="1737360"/>
            <a:ext cx="2743200" cy="320040"/>
          </a:xfrm>
          <a:prstGeom prst="round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defRPr sz="1100" b="1">
                <a:solidFill>
                  <a:srgbClr val="333333"/>
                </a:solidFill>
              </a:defRPr>
            </a:pPr>
            <a:r>
              <a:t>하드웨어 선정 · 요소기술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37560" y="2194560"/>
            <a:ext cx="2651760" cy="960120"/>
          </a:xfrm>
          <a:prstGeom prst="roundRect">
            <a:avLst/>
          </a:prstGeom>
          <a:solidFill>
            <a:srgbClr val="F2F2F2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63500" bIns="63500"/>
          <a:lstStyle/>
          <a:p>
            <a:pPr algn="ctr">
              <a:lnSpc>
                <a:spcPts val="1400"/>
              </a:lnSpc>
              <a:defRPr sz="1000">
                <a:solidFill>
                  <a:srgbClr val="333333"/>
                </a:solidFill>
              </a:defRPr>
            </a:pPr>
            <a:r>
              <a:t>냉형 점화플러그 적용</a:t>
            </a:r>
            <a:br/>
            <a:r>
              <a:t>→ 이른 조기점화 억제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37560" y="3246120"/>
            <a:ext cx="2651760" cy="960120"/>
          </a:xfrm>
          <a:prstGeom prst="roundRect">
            <a:avLst/>
          </a:prstGeom>
          <a:solidFill>
            <a:srgbClr val="F2F2F2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63500" bIns="63500"/>
          <a:lstStyle/>
          <a:p>
            <a:pPr algn="ctr">
              <a:lnSpc>
                <a:spcPts val="1400"/>
              </a:lnSpc>
              <a:defRPr sz="1000">
                <a:solidFill>
                  <a:srgbClr val="333333"/>
                </a:solidFill>
              </a:defRPr>
            </a:pPr>
            <a:r>
              <a:t>포트분사 인젝터 사양 선정</a:t>
            </a:r>
            <a:br/>
            <a:r>
              <a:t>(분사 인가기간 &lt;10ms)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37560" y="4297680"/>
            <a:ext cx="2651760" cy="960120"/>
          </a:xfrm>
          <a:prstGeom prst="roundRect">
            <a:avLst/>
          </a:prstGeom>
          <a:solidFill>
            <a:srgbClr val="F2F2F2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63500" bIns="63500"/>
          <a:lstStyle/>
          <a:p>
            <a:pPr algn="ctr">
              <a:lnSpc>
                <a:spcPts val="1400"/>
              </a:lnSpc>
              <a:defRPr sz="1000">
                <a:solidFill>
                  <a:srgbClr val="333333"/>
                </a:solidFill>
              </a:defRPr>
            </a:pPr>
            <a:r>
              <a:t>최적 압축비 11:1 선정</a:t>
            </a:r>
            <a:br/>
            <a:r>
              <a:t>→ 열효율 ~1%p 향상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337560" y="5349240"/>
            <a:ext cx="2651760" cy="960120"/>
          </a:xfrm>
          <a:prstGeom prst="roundRect">
            <a:avLst/>
          </a:prstGeom>
          <a:solidFill>
            <a:srgbClr val="F2F2F2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63500" bIns="63500"/>
          <a:lstStyle/>
          <a:p>
            <a:pPr algn="ctr">
              <a:lnSpc>
                <a:spcPts val="1400"/>
              </a:lnSpc>
              <a:defRPr sz="1000">
                <a:solidFill>
                  <a:srgbClr val="333333"/>
                </a:solidFill>
              </a:defRPr>
            </a:pPr>
            <a:r>
              <a:t>이상연소 제어 전략 수립</a:t>
            </a:r>
            <a:br/>
            <a:r>
              <a:t>(공기과잉률 + EGR)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91840" y="6492240"/>
            <a:ext cx="2743200" cy="365760"/>
          </a:xfrm>
          <a:prstGeom prst="round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★ 압축비 11:1 최적화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1280160"/>
            <a:ext cx="2743200" cy="411480"/>
          </a:xfrm>
          <a:prstGeom prst="round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3차년도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72200" y="1737360"/>
            <a:ext cx="2743200" cy="320040"/>
          </a:xfrm>
          <a:prstGeom prst="round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defRPr sz="1100" b="1">
                <a:solidFill>
                  <a:srgbClr val="333333"/>
                </a:solidFill>
              </a:defRPr>
            </a:pPr>
            <a:r>
              <a:t>NOx 저감 · 후처리시스템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2194560"/>
            <a:ext cx="2651760" cy="960120"/>
          </a:xfrm>
          <a:prstGeom prst="roundRect">
            <a:avLst/>
          </a:prstGeom>
          <a:solidFill>
            <a:srgbClr val="F2F2F2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63500" bIns="63500"/>
          <a:lstStyle/>
          <a:p>
            <a:pPr algn="ctr">
              <a:lnSpc>
                <a:spcPts val="1400"/>
              </a:lnSpc>
              <a:defRPr sz="1000">
                <a:solidFill>
                  <a:srgbClr val="333333"/>
                </a:solidFill>
              </a:defRPr>
            </a:pPr>
            <a:r>
              <a:t>NOx 저감 연소 제어 전략</a:t>
            </a:r>
            <a:br/>
            <a:r>
              <a:t>(분사/점화시기, 공기과잉률)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3246120"/>
            <a:ext cx="2651760" cy="960120"/>
          </a:xfrm>
          <a:prstGeom prst="roundRect">
            <a:avLst/>
          </a:prstGeom>
          <a:solidFill>
            <a:srgbClr val="F2F2F2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63500" bIns="63500"/>
          <a:lstStyle/>
          <a:p>
            <a:pPr algn="ctr">
              <a:lnSpc>
                <a:spcPts val="1400"/>
              </a:lnSpc>
              <a:defRPr sz="1000">
                <a:solidFill>
                  <a:srgbClr val="333333"/>
                </a:solidFill>
              </a:defRPr>
            </a:pPr>
            <a:r>
              <a:t>저부하 EGR 전략</a:t>
            </a:r>
            <a:br/>
            <a:r>
              <a:t>→ 펌핑손실 저감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4297680"/>
            <a:ext cx="2651760" cy="960120"/>
          </a:xfrm>
          <a:prstGeom prst="roundRect">
            <a:avLst/>
          </a:prstGeom>
          <a:solidFill>
            <a:srgbClr val="F2F2F2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63500" bIns="63500"/>
          <a:lstStyle/>
          <a:p>
            <a:pPr algn="ctr">
              <a:lnSpc>
                <a:spcPts val="1400"/>
              </a:lnSpc>
              <a:defRPr sz="1000">
                <a:solidFill>
                  <a:srgbClr val="333333"/>
                </a:solidFill>
              </a:defRPr>
            </a:pPr>
            <a:r>
              <a:t>후처리시스템 간소화</a:t>
            </a:r>
            <a:br/>
            <a:r>
              <a:t>DOC + SCR (DPF 삭제)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5349240"/>
            <a:ext cx="2651760" cy="960120"/>
          </a:xfrm>
          <a:prstGeom prst="roundRect">
            <a:avLst/>
          </a:prstGeom>
          <a:solidFill>
            <a:srgbClr val="F2F2F2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63500" bIns="63500"/>
          <a:lstStyle/>
          <a:p>
            <a:pPr algn="ctr">
              <a:lnSpc>
                <a:spcPts val="1400"/>
              </a:lnSpc>
              <a:defRPr sz="1000">
                <a:solidFill>
                  <a:srgbClr val="333333"/>
                </a:solidFill>
              </a:defRPr>
            </a:pPr>
            <a:r>
              <a:t>엔진-후처리 연계 시험</a:t>
            </a:r>
            <a:br/>
            <a:r>
              <a:t>→ Euro 7 배출규제 충족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72200" y="6492240"/>
            <a:ext cx="2743200" cy="365760"/>
          </a:xfrm>
          <a:prstGeom prst="round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★ Euro 7 충족 달성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052560" y="1280160"/>
            <a:ext cx="2743200" cy="411480"/>
          </a:xfrm>
          <a:prstGeom prst="round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4차년도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052560" y="1737360"/>
            <a:ext cx="2743200" cy="320040"/>
          </a:xfrm>
          <a:prstGeom prst="round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defRPr sz="1100" b="1">
                <a:solidFill>
                  <a:srgbClr val="333333"/>
                </a:solidFill>
              </a:defRPr>
            </a:pPr>
            <a:r>
              <a:t>통합제어 · 고성능화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098280" y="2194560"/>
            <a:ext cx="2651760" cy="960120"/>
          </a:xfrm>
          <a:prstGeom prst="roundRect">
            <a:avLst/>
          </a:prstGeom>
          <a:solidFill>
            <a:srgbClr val="F2F2F2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63500" bIns="63500"/>
          <a:lstStyle/>
          <a:p>
            <a:pPr algn="ctr">
              <a:lnSpc>
                <a:spcPts val="1400"/>
              </a:lnSpc>
              <a:defRPr sz="1000">
                <a:solidFill>
                  <a:srgbClr val="333333"/>
                </a:solidFill>
              </a:defRPr>
            </a:pPr>
            <a:r>
              <a:t>운전영역별 연소-후처리</a:t>
            </a:r>
            <a:br/>
            <a:r>
              <a:t>통합제어 전략 도출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098280" y="3246120"/>
            <a:ext cx="2651760" cy="960120"/>
          </a:xfrm>
          <a:prstGeom prst="roundRect">
            <a:avLst/>
          </a:prstGeom>
          <a:solidFill>
            <a:srgbClr val="F2F2F2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63500" bIns="63500"/>
          <a:lstStyle/>
          <a:p>
            <a:pPr algn="ctr">
              <a:lnSpc>
                <a:spcPts val="1400"/>
              </a:lnSpc>
              <a:defRPr sz="1000">
                <a:solidFill>
                  <a:srgbClr val="333333"/>
                </a:solidFill>
              </a:defRPr>
            </a:pPr>
            <a:r>
              <a:t>주행 사이클 대응</a:t>
            </a:r>
            <a:br/>
            <a:r>
              <a:t>(WHSC/WHTC/NRSC/NRTC)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098280" y="4297680"/>
            <a:ext cx="2651760" cy="960120"/>
          </a:xfrm>
          <a:prstGeom prst="roundRect">
            <a:avLst/>
          </a:prstGeom>
          <a:solidFill>
            <a:srgbClr val="F2F2F2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63500" bIns="63500"/>
          <a:lstStyle/>
          <a:p>
            <a:pPr algn="ctr">
              <a:lnSpc>
                <a:spcPts val="1400"/>
              </a:lnSpc>
              <a:defRPr sz="1000">
                <a:solidFill>
                  <a:srgbClr val="333333"/>
                </a:solidFill>
              </a:defRPr>
            </a:pPr>
            <a:r>
              <a:t>2-stage 터보차저 적용</a:t>
            </a:r>
            <a:br/>
            <a:r>
              <a:t>→ 저속토크 42.6%↑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098280" y="5349240"/>
            <a:ext cx="2651760" cy="960120"/>
          </a:xfrm>
          <a:prstGeom prst="roundRect">
            <a:avLst/>
          </a:prstGeom>
          <a:solidFill>
            <a:srgbClr val="F2F2F2"/>
          </a:solidFill>
          <a:ln w="6350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63500" bIns="63500"/>
          <a:lstStyle/>
          <a:p>
            <a:pPr algn="ctr">
              <a:lnSpc>
                <a:spcPts val="1400"/>
              </a:lnSpc>
              <a:defRPr sz="1000">
                <a:solidFill>
                  <a:srgbClr val="333333"/>
                </a:solidFill>
              </a:defRPr>
            </a:pPr>
            <a:r>
              <a:t>고성능 수소엔진</a:t>
            </a:r>
            <a:br/>
            <a:r>
              <a:t>개발 로드맵 제시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052560" y="6492240"/>
            <a:ext cx="2743200" cy="365760"/>
          </a:xfrm>
          <a:prstGeom prst="round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★ 저속토크 42.6% 향상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핵심결과 (1) - 엔진 성능 달성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AACCEE"/>
                </a:solidFill>
              </a:defRPr>
            </a:pPr>
            <a:r>
              <a:t>출력 · 열효율 · 2-Stage 터보차저 · 이상연소 제어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2 /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</a:defRPr>
            </a:pPr>
            <a:r>
              <a:t>한국기계연구원(KIMM) | 산업기술혁신사업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3444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2B5C"/>
                </a:solidFill>
              </a:defRPr>
            </a:pPr>
            <a:r>
              <a:t>출력 및 열효율 달성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645920"/>
          <a:ext cx="530352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3017520"/>
              </a:tblGrid>
              <a:tr h="475488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항목</a:t>
                      </a:r>
                    </a:p>
                  </a:txBody>
                  <a:tcPr anchor="ctr">
                    <a:solidFill>
                      <a:srgbClr val="002B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달성 결과</a:t>
                      </a:r>
                    </a:p>
                  </a:txBody>
                  <a:tcPr anchor="ctr">
                    <a:solidFill>
                      <a:srgbClr val="002B5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333333"/>
                          </a:solidFill>
                        </a:defRPr>
                      </a:pPr>
                      <a:r>
                        <a:t>최고출력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02B5C"/>
                          </a:solidFill>
                        </a:defRPr>
                      </a:pPr>
                      <a:r>
                        <a:t>300kW (2,000 rpm)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333333"/>
                          </a:solidFill>
                        </a:defRPr>
                      </a:pPr>
                      <a:r>
                        <a:t>최고 열효율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02B5C"/>
                          </a:solidFill>
                        </a:defRPr>
                      </a:pPr>
                      <a:r>
                        <a:t>41.4% (1,200rpm, 100% 부하, CR 11:1)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333333"/>
                          </a:solidFill>
                        </a:defRPr>
                      </a:pPr>
                      <a:r>
                        <a:t>연소효율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02B5C"/>
                          </a:solidFill>
                        </a:defRPr>
                      </a:pPr>
                      <a:r>
                        <a:t>전 영역 99% 이상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333333"/>
                          </a:solidFill>
                        </a:defRPr>
                      </a:pPr>
                      <a:r>
                        <a:t>천연가스 대비 개선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02B5C"/>
                          </a:solidFill>
                        </a:defRPr>
                      </a:pPr>
                      <a:r>
                        <a:t>+2.8%p (연료 변경만으로 달성)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400800" y="123444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2B5C"/>
                </a:solidFill>
              </a:defRPr>
            </a:pPr>
            <a:r>
              <a:t>2-Stage 터보차저 적용 성과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400800" y="1645920"/>
          <a:ext cx="530352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645920"/>
                <a:gridCol w="2468880"/>
              </a:tblGrid>
              <a:tr h="5943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엔진 속도</a:t>
                      </a:r>
                    </a:p>
                  </a:txBody>
                  <a:tcPr anchor="ctr">
                    <a:solidFill>
                      <a:srgbClr val="002B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토크 향상</a:t>
                      </a:r>
                    </a:p>
                  </a:txBody>
                  <a:tcPr anchor="ctr">
                    <a:solidFill>
                      <a:srgbClr val="002B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제한 요소</a:t>
                      </a:r>
                    </a:p>
                  </a:txBody>
                  <a:tcPr anchor="ctr">
                    <a:solidFill>
                      <a:srgbClr val="002B5C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333333"/>
                          </a:solidFill>
                        </a:defRPr>
                      </a:pPr>
                      <a:r>
                        <a:t>저속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E86C00"/>
                          </a:solidFill>
                        </a:defRPr>
                      </a:pPr>
                      <a:r>
                        <a:t>+42.6%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</a:defRPr>
                      </a:pPr>
                      <a:r>
                        <a:t>낮은 배기에너지, 조기점화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333333"/>
                          </a:solidFill>
                        </a:defRPr>
                      </a:pPr>
                      <a:r>
                        <a:t>중속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E86C00"/>
                          </a:solidFill>
                        </a:defRPr>
                      </a:pPr>
                      <a:r>
                        <a:t>+6.1%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</a:defRPr>
                      </a:pPr>
                      <a:r>
                        <a:t>인터쿨러 전단 온도, NOx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333333"/>
                          </a:solidFill>
                        </a:defRPr>
                      </a:pPr>
                      <a:r>
                        <a:t>고속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E86C00"/>
                          </a:solidFill>
                        </a:defRPr>
                      </a:pPr>
                      <a:r>
                        <a:t>+3.4%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</a:defRPr>
                      </a:pPr>
                      <a:r>
                        <a:t>인터쿨러 전단 온도, 조기점화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457200" y="42976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2B5C"/>
                </a:solidFill>
              </a:defRPr>
            </a:pPr>
            <a:r>
              <a:t>이상연소 억제 전략 체계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4709160"/>
            <a:ext cx="1645920" cy="36576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역화 억제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94560" y="4736592"/>
            <a:ext cx="274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C0392B"/>
                </a:solidFill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5166360"/>
            <a:ext cx="2743200" cy="64008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1000">
                <a:solidFill>
                  <a:srgbClr val="333333"/>
                </a:solidFill>
              </a:defRPr>
            </a:pPr>
            <a:r>
              <a:t>공기과잉률 증가 (λ ≥ 2.0)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37560" y="4709160"/>
            <a:ext cx="1645920" cy="36576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조기점화 억제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74920" y="4736592"/>
            <a:ext cx="274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E67E22"/>
                </a:solidFill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37560" y="5166360"/>
            <a:ext cx="2743200" cy="64008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1000">
                <a:solidFill>
                  <a:srgbClr val="333333"/>
                </a:solidFill>
              </a:defRPr>
            </a:pPr>
            <a:r>
              <a:t>냉형 점화플러그 + 분사시기/압력 최적화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4709160"/>
            <a:ext cx="1645920" cy="36576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노킹 억제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55280" y="4736592"/>
            <a:ext cx="274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7AE60"/>
                </a:solidFill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5166360"/>
            <a:ext cx="2743200" cy="64008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1000">
                <a:solidFill>
                  <a:srgbClr val="333333"/>
                </a:solidFill>
              </a:defRPr>
            </a:pPr>
            <a:r>
              <a:t>최적 압축비(11:1) + 점화시기 지각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98280" y="4709160"/>
            <a:ext cx="1645920" cy="365760"/>
          </a:xfrm>
          <a:prstGeom prst="roundRect">
            <a:avLst/>
          </a:prstGeom>
          <a:solidFill>
            <a:srgbClr val="004E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종합 제어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35640" y="4736592"/>
            <a:ext cx="274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4E92"/>
                </a:solidFill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98280" y="5166360"/>
            <a:ext cx="2743200" cy="640080"/>
          </a:xfrm>
          <a:prstGeom prst="roundRect">
            <a:avLst/>
          </a:prstGeom>
          <a:solidFill>
            <a:srgbClr val="F2F2F2"/>
          </a:solidFill>
          <a:ln w="19050">
            <a:solidFill>
              <a:srgbClr val="004E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/>
          <a:lstStyle/>
          <a:p>
            <a:pPr algn="ctr">
              <a:defRPr sz="1000">
                <a:solidFill>
                  <a:srgbClr val="333333"/>
                </a:solidFill>
              </a:defRPr>
            </a:pPr>
            <a:r>
              <a:t>EGR 적용(저부하) + 공기과잉률 조절(전 영역)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5943600"/>
            <a:ext cx="11247120" cy="411480"/>
          </a:xfrm>
          <a:prstGeom prst="roundRect">
            <a:avLst/>
          </a:prstGeom>
          <a:solidFill>
            <a:srgbClr val="FDF2E9"/>
          </a:solidFill>
          <a:ln w="12700">
            <a:solidFill>
              <a:srgbClr val="E8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E86C00"/>
                </a:solidFill>
              </a:defRPr>
            </a:pPr>
            <a:r>
              <a:t>핵심: 300kW 출력 달성 + 열효율 41.4% + 이상연소 체계적 억제 → 상용화 기반 확보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핵심결과 (2) - 배출 특성 및 통합 제어 전략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AACCEE"/>
                </a:solidFill>
              </a:defRPr>
            </a:pPr>
            <a:r>
              <a:t>배출가스 · 후처리시스템 · 운전영역별 전략 · 향후 과제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005840"/>
            <a:ext cx="12191695" cy="36576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66666"/>
                </a:solidFill>
              </a:defRPr>
            </a:pPr>
            <a:r>
              <a:t>3 /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66666"/>
                </a:solidFill>
              </a:defRPr>
            </a:pPr>
            <a:r>
              <a:t>한국기계연구원(KIMM) | 산업기술혁신사업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23444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2B5C"/>
                </a:solidFill>
              </a:defRPr>
            </a:pPr>
            <a:r>
              <a:t>배출가스 특성 및 대응 전략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645920"/>
          <a:ext cx="54864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2011680"/>
                <a:gridCol w="256032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배출물</a:t>
                      </a:r>
                    </a:p>
                  </a:txBody>
                  <a:tcPr anchor="ctr">
                    <a:solidFill>
                      <a:srgbClr val="002B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수소 엔진 특성</a:t>
                      </a:r>
                    </a:p>
                  </a:txBody>
                  <a:tcPr anchor="ctr">
                    <a:solidFill>
                      <a:srgbClr val="002B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대응 전략</a:t>
                      </a:r>
                    </a:p>
                  </a:txBody>
                  <a:tcPr anchor="ctr">
                    <a:solidFill>
                      <a:srgbClr val="002B5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333333"/>
                          </a:solidFill>
                        </a:defRPr>
                      </a:pPr>
                      <a:r>
                        <a:t>NOx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</a:defRPr>
                      </a:pPr>
                      <a:r>
                        <a:t>유일한 유해 배출물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4E92"/>
                          </a:solidFill>
                        </a:defRPr>
                      </a:pPr>
                      <a:r>
                        <a:t>공기과잉률↑ + Urea SCR (99%)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333333"/>
                          </a:solidFill>
                        </a:defRPr>
                      </a:pPr>
                      <a:r>
                        <a:t>CO/CO₂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</a:defRPr>
                      </a:pPr>
                      <a:r>
                        <a:t>제로 수준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4E92"/>
                          </a:solidFill>
                        </a:defRPr>
                      </a:pPr>
                      <a:r>
                        <a:t>무탄소 연료 효과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333333"/>
                          </a:solidFill>
                        </a:defRPr>
                      </a:pPr>
                      <a:r>
                        <a:t>THC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</a:defRPr>
                      </a:pPr>
                      <a:r>
                        <a:t>오일연소 일부 발생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4E92"/>
                          </a:solidFill>
                        </a:defRPr>
                      </a:pPr>
                      <a:r>
                        <a:t>오일유량/피스톤 간극 최적화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333333"/>
                          </a:solidFill>
                        </a:defRPr>
                      </a:pPr>
                      <a:r>
                        <a:t>PM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0">
                          <a:solidFill>
                            <a:srgbClr val="333333"/>
                          </a:solidFill>
                        </a:defRPr>
                      </a:pPr>
                      <a:r>
                        <a:t>제로 수준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4E92"/>
                          </a:solidFill>
                        </a:defRPr>
                      </a:pPr>
                      <a:r>
                        <a:t>DPF 불필요 → 후처리 간소화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400800" y="123444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2B5C"/>
                </a:solidFill>
              </a:defRPr>
            </a:pPr>
            <a:r>
              <a:t>운전영역별 통합 제어 전략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400800" y="1645920"/>
          <a:ext cx="530352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2103120"/>
                <a:gridCol w="210312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엔진 부하</a:t>
                      </a:r>
                    </a:p>
                  </a:txBody>
                  <a:tcPr anchor="ctr">
                    <a:solidFill>
                      <a:srgbClr val="002B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중속 전략</a:t>
                      </a:r>
                    </a:p>
                  </a:txBody>
                  <a:tcPr anchor="ctr">
                    <a:solidFill>
                      <a:srgbClr val="002B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고속 전략</a:t>
                      </a:r>
                    </a:p>
                  </a:txBody>
                  <a:tcPr anchor="ctr">
                    <a:solidFill>
                      <a:srgbClr val="002B5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333333"/>
                          </a:solidFill>
                        </a:defRPr>
                      </a:pPr>
                      <a:r>
                        <a:t>저부하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</a:defRPr>
                      </a:pPr>
                      <a:r>
                        <a:t>높은 λ + 최적 연소상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</a:defRPr>
                      </a:pPr>
                      <a:r>
                        <a:t>낮은 λ + 최적 연소상</a:t>
                      </a:r>
                    </a:p>
                  </a:txBody>
                  <a:tcPr anchor="ctr">
                    <a:solidFill>
                      <a:srgbClr val="E8F0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333333"/>
                          </a:solidFill>
                        </a:defRPr>
                      </a:pPr>
                      <a:r>
                        <a:t>고부하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</a:defRPr>
                      </a:pPr>
                      <a:r>
                        <a:t>높은 λ + 지각 연소상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333333"/>
                          </a:solidFill>
                        </a:defRPr>
                      </a:pPr>
                      <a:r>
                        <a:t>낮은 λ + 지각 연소상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6400800" y="3108960"/>
            <a:ext cx="5303520" cy="731520"/>
          </a:xfrm>
          <a:prstGeom prst="roundRect">
            <a:avLst/>
          </a:prstGeom>
          <a:solidFill>
            <a:srgbClr val="E8F0F8"/>
          </a:solidFill>
          <a:ln w="12700">
            <a:solidFill>
              <a:srgbClr val="004E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/>
          <a:lstStyle/>
          <a:p>
            <a:pPr algn="ctr">
              <a:lnSpc>
                <a:spcPts val="1600"/>
              </a:lnSpc>
              <a:defRPr sz="1000">
                <a:solidFill>
                  <a:srgbClr val="002B5C"/>
                </a:solidFill>
              </a:defRPr>
            </a:pPr>
            <a:r>
              <a:t>▸ 중속: 높은 Engine-out NOx → 높은 공기과잉률 적용</a:t>
            </a:r>
            <a:br/>
            <a:r>
              <a:t>▸ 고속: 낮은 Engine-out NOx → 낮은 공기과잉률로 출력 확보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20624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2B5C"/>
                </a:solidFill>
              </a:defRPr>
            </a:pPr>
            <a:r>
              <a:t>후처리시스템 간소화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663440"/>
            <a:ext cx="5303520" cy="457200"/>
          </a:xfrm>
          <a:prstGeom prst="roundRect">
            <a:avLst/>
          </a:prstGeom>
          <a:solidFill>
            <a:srgbClr val="6666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기존 디젤: DOC → DPF → SCR (3단 구성)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51206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07A33"/>
                </a:solidFill>
              </a:defRPr>
            </a:pPr>
            <a:r>
              <a:t>▼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5394960"/>
            <a:ext cx="5303520" cy="457200"/>
          </a:xfrm>
          <a:prstGeom prst="roundRect">
            <a:avLst/>
          </a:prstGeom>
          <a:solidFill>
            <a:srgbClr val="007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수소 엔진: DOC → SCR (2단 구성, DPF 삭제 + 사이즈 축소)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20624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02B5C"/>
                </a:solidFill>
              </a:defRPr>
            </a:pPr>
            <a:r>
              <a:t>향후 개발 방향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4663440"/>
            <a:ext cx="1691640" cy="365760"/>
          </a:xfrm>
          <a:prstGeom prst="roundRect">
            <a:avLst/>
          </a:prstGeom>
          <a:solidFill>
            <a:srgbClr val="004E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하이브리드화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5120640"/>
            <a:ext cx="1691640" cy="777240"/>
          </a:xfrm>
          <a:prstGeom prst="roundRect">
            <a:avLst/>
          </a:prstGeom>
          <a:solidFill>
            <a:srgbClr val="F2F2F2"/>
          </a:solidFill>
          <a:ln w="6350">
            <a:solidFill>
              <a:srgbClr val="004E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/>
          <a:lstStyle/>
          <a:p>
            <a:pPr algn="ctr">
              <a:lnSpc>
                <a:spcPts val="1300"/>
              </a:lnSpc>
              <a:defRPr sz="900">
                <a:solidFill>
                  <a:srgbClr val="333333"/>
                </a:solidFill>
              </a:defRPr>
            </a:pPr>
            <a:r>
              <a:t>디젤 대비 낮은 저속토크</a:t>
            </a:r>
            <a:br/>
            <a:r>
              <a:t>및 반응성 보완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83880" y="4663440"/>
            <a:ext cx="1691640" cy="365760"/>
          </a:xfrm>
          <a:prstGeom prst="roundRect">
            <a:avLst/>
          </a:prstGeom>
          <a:solidFill>
            <a:srgbClr val="004E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2단 인터쿨러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83880" y="5120640"/>
            <a:ext cx="1691640" cy="777240"/>
          </a:xfrm>
          <a:prstGeom prst="roundRect">
            <a:avLst/>
          </a:prstGeom>
          <a:solidFill>
            <a:srgbClr val="F2F2F2"/>
          </a:solidFill>
          <a:ln w="6350">
            <a:solidFill>
              <a:srgbClr val="004E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/>
          <a:lstStyle/>
          <a:p>
            <a:pPr algn="ctr">
              <a:lnSpc>
                <a:spcPts val="1300"/>
              </a:lnSpc>
              <a:defRPr sz="900">
                <a:solidFill>
                  <a:srgbClr val="333333"/>
                </a:solidFill>
              </a:defRPr>
            </a:pPr>
            <a:r>
              <a:t>Mid charge air cooling</a:t>
            </a:r>
            <a:br/>
            <a:r>
              <a:t>→ 중/고속 추가 토크 향상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966960" y="4663440"/>
            <a:ext cx="1691640" cy="365760"/>
          </a:xfrm>
          <a:prstGeom prst="roundRect">
            <a:avLst/>
          </a:prstGeom>
          <a:solidFill>
            <a:srgbClr val="004E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38100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Blowby 관리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966960" y="5120640"/>
            <a:ext cx="1691640" cy="777240"/>
          </a:xfrm>
          <a:prstGeom prst="roundRect">
            <a:avLst/>
          </a:prstGeom>
          <a:solidFill>
            <a:srgbClr val="F2F2F2"/>
          </a:solidFill>
          <a:ln w="6350">
            <a:solidFill>
              <a:srgbClr val="004E9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50800"/>
          <a:lstStyle/>
          <a:p>
            <a:pPr algn="ctr">
              <a:lnSpc>
                <a:spcPts val="1300"/>
              </a:lnSpc>
              <a:defRPr sz="900">
                <a:solidFill>
                  <a:srgbClr val="333333"/>
                </a:solidFill>
              </a:defRPr>
            </a:pPr>
            <a:r>
              <a:t>5% 이상 수소 농도</a:t>
            </a:r>
            <a:br/>
            <a:r>
              <a:t>→ 열점 관리 필수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6035040"/>
            <a:ext cx="11247120" cy="411480"/>
          </a:xfrm>
          <a:prstGeom prst="roundRect">
            <a:avLst/>
          </a:prstGeom>
          <a:solidFill>
            <a:srgbClr val="E8F5E9"/>
          </a:solidFill>
          <a:ln w="12700">
            <a:solidFill>
              <a:srgbClr val="007A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07A33"/>
                </a:solidFill>
              </a:defRPr>
            </a:pPr>
            <a:r>
              <a:t>핵심: 무탄소 배출 + Euro 7 충족 + 후처리 간소화(DOC+SCR) → 친환경 대형 동력원 실용화 기반 완성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