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300kW급 수소 엔진 개발 - 연차별 추진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공동연구개발기관: 한국기계연구원 | 1단계 1~4차년도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2788920" cy="384048"/>
          </a:xfrm>
          <a:prstGeom prst="round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1차년도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64208"/>
            <a:ext cx="2788920" cy="292608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시스템 구축 · 기초 성능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2057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460kW AC동력계 기반 엔진 성능 평가 시스템 구축, 배출가스 분석기(AMA i60), PM 분석기, 코리올리식 질량유량계 등 계측장비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3200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수소 저장고 증축(랙 타입 70여개 용기, 35kg), 엔진셀까지 고압배관(60bar 대응), 연료 공급 및 안전 설비 구축 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" y="4343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베이스 천연가스 엔진(GX12) 운전속도·부하별 성능/배출가스/연소인자 DB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5486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수소 엔진 기초 시험에서 천연가스 대비 제동열효율 2.8%p 향상 달성 (펌핑손실·열전달 손실 저감 효과)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34440"/>
            <a:ext cx="2788920" cy="384048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2차년도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664208"/>
            <a:ext cx="2788920" cy="292608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하드웨어 선정 · 요소기술 평가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2057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냉형 점화플러그 적용으로 100% 부하에서 이른 조기점화 완전 억제, 백금 제거 사양에서도 유사한 효과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3200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정격 300kW 달성에 필요한 분사 인가기간(&lt;10ms)과 아이들 안정성(COV &lt;3%)을 동시 만족하는 큰 구경 포트분사 인젝터 선정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4343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단기통 엔진에서 공기과잉률 및 EGR 전략 평가 → 이상연소 억제 효과적이나 터보차저 부담과의 trade-off 규명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5486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최적 압축비 11:1 선정(열효율 ~1%p↑), Squish 유동 강화 피스톤 Type C 제안(조기점화+노킹 동시 억제)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34440"/>
            <a:ext cx="2788920" cy="38404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3차년도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64208"/>
            <a:ext cx="2788920" cy="292608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NOx 저감 · 후처리시스템 구성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057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분사시기 지연 시 국부 농후 혼합기에 의한 NOx 증가 확인 → 이른 분사시기+높은 분사압력+지각 점화시기 조합 도출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200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저부하 EGR 적용 시 펌핑손실 저감 → 열효율 향상, 과잉 공기 대비 낮은 λ에서 NOx 저감 가능 (Transient 유리)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4343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CO/CO₂/PM 제로 활용하여 DPF 삭제 → DOC+SCR 2단 구성으로 후처리 간소화, 사이즈 축소 가능성 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5486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엔진-후처리 연계 시험: 25~100% 부하 전영역 TC후단 400℃↑, SCR 변환효율 99% → Euro 7 충족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234440"/>
            <a:ext cx="2788920" cy="384048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4차년도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664208"/>
            <a:ext cx="2788920" cy="292608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통합제어 · 고성능화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2057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운전영역별(중속/고속 × 저/중/고부하) 열효율 지배인자 분석, NOx 마진·이상연소 한계 고려 연소-후처리 통합제어 전략 도출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71432" y="3200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WHSC/WHTC/NRSC/NRTC 주행사이클 시험 탑재, Transient 운전 고려 제어변수 최적화(조기점화·노킹 대응)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1432" y="4343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2-stage 터보차저 적용: 저속토크 +42.6%, 중속 +6.1%, 고속 +3.4% 향상 (점화시기 지각+적정 당량비 선정 핵심)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71432" y="5486400"/>
            <a:ext cx="2734056" cy="105156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50800"/>
          <a:lstStyle/>
          <a:p>
            <a:pPr algn="ctr">
              <a:lnSpc>
                <a:spcPts val="1100"/>
              </a:lnSpc>
              <a:defRPr sz="800">
                <a:solidFill>
                  <a:srgbClr val="333333"/>
                </a:solidFill>
              </a:defRPr>
            </a:pPr>
            <a:r>
              <a:t>하이브리드화(저속토크 보완), 2단 인터쿨러(중/고속 토크 향상), Blowby 열점 관리 등 향후 로드맵 제시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핵심결과 (1) - 핵심 요소기술 및 NOx 저감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냉형 점화플러그 · 포트분사 인젝터 · 피스톤 형상 · NOx 연소제어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</a:defRPr>
            </a:pPr>
            <a:r>
              <a:t>1  냉형 점화플러그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63040"/>
          <a:ext cx="5577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48840"/>
                <a:gridCol w="214884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베이스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냉형 (선정)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이른 조기점화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</a:defRPr>
                      </a:pPr>
                      <a:r>
                        <a:t>고부하 빈번→출력하락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완전 억제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늦은 조기점화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</a:defRPr>
                      </a:pPr>
                      <a:r>
                        <a:t>다수 발생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대폭 감소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100% 부하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</a:defRPr>
                      </a:pPr>
                      <a:r>
                        <a:t>운전 제한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안정 운전 확보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</a:defRPr>
            </a:pPr>
            <a:r>
              <a:t>2  포트분사 인젝터 선정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46304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03120"/>
                <a:gridCol w="21031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작은 구경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큰 구경 (선정)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아이들 안정성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</a:defRPr>
                      </a:pPr>
                      <a:r>
                        <a:t>유리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COV of IMEP &lt;3%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분사 인가기간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</a:defRPr>
                      </a:pPr>
                      <a:r>
                        <a:t>과도→이상연소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&lt;10ms 만족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300kW 대응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C0392B"/>
                          </a:solidFill>
                        </a:defRPr>
                      </a:pPr>
                      <a:r>
                        <a:t>불가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충분한 연료공급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</a:defRPr>
            </a:pPr>
            <a:r>
              <a:t>3  피스톤 형상 최적화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337560"/>
          <a:ext cx="55778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40080"/>
                <a:gridCol w="640080"/>
                <a:gridCol w="164592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사양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CR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Squish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특성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열효율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10:1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기본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천연가스 기준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기준선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Type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11:1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기본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압축비 증대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~1%p↑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Type B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11:1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좁음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화염전파↑, 고부하 노킹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소폭 증가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</a:defRPr>
                      </a:pPr>
                      <a:r>
                        <a:t>Type C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</a:defRPr>
                      </a:pPr>
                      <a:r>
                        <a:t>11:1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</a:defRPr>
                      </a:pPr>
                      <a:r>
                        <a:t>넓음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</a:defRPr>
                      </a:pPr>
                      <a:r>
                        <a:t>Squish 강화→이상연소 억제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86C00"/>
                          </a:solidFill>
                        </a:defRPr>
                      </a:pPr>
                      <a:r>
                        <a:t>40.4%/41.4%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0936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</a:defRPr>
            </a:pPr>
            <a:r>
              <a:t>4  NOx 저감 연소 제어 전략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33375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제어변수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NOx 영향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공기과잉률 증가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대폭 감소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역화/조기점화 억제, but 부하↓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점화시기 지각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감소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노킹 억제, 열효율 소폭↓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분사시기 진각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감소 (균일혼합기)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조기점화 억제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분사시기 지각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C0392B"/>
                          </a:solidFill>
                        </a:defRPr>
                      </a:pPr>
                      <a:r>
                        <a:t>증가 (국부농후)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조기점화 유발 → 지양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33333"/>
                          </a:solidFill>
                        </a:defRPr>
                      </a:pPr>
                      <a:r>
                        <a:t>EGR 적용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7A33"/>
                          </a:solidFill>
                        </a:defRPr>
                      </a:pPr>
                      <a:r>
                        <a:t>감소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펌핑손실↓, 열효율↑ (저부하)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09360" y="5349240"/>
            <a:ext cx="5486400" cy="868680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lnSpc>
                <a:spcPts val="1300"/>
              </a:lnSpc>
              <a:defRPr sz="800">
                <a:solidFill>
                  <a:srgbClr val="333333"/>
                </a:solidFill>
              </a:defRPr>
            </a:pPr>
            <a:r>
              <a:t>▸ 저부하(25%): 배기온도 낮아 SCR 효율↓ → 엔진측 NOx 저감 필수 (높은 λ or EGR)</a:t>
            </a:r>
          </a:p>
          <a:p>
            <a:pPr>
              <a:lnSpc>
                <a:spcPts val="1300"/>
              </a:lnSpc>
              <a:defRPr sz="800">
                <a:solidFill>
                  <a:srgbClr val="333333"/>
                </a:solidFill>
              </a:defRPr>
            </a:pPr>
            <a:r>
              <a:t>▸ 중부하(50~75%): 공기과잉률 + 점화시기 지각, TC후단 400℃↑ → SCR 99%</a:t>
            </a:r>
          </a:p>
          <a:p>
            <a:pPr>
              <a:lnSpc>
                <a:spcPts val="1300"/>
              </a:lnSpc>
              <a:defRPr sz="800">
                <a:solidFill>
                  <a:srgbClr val="333333"/>
                </a:solidFill>
              </a:defRPr>
            </a:pPr>
            <a:r>
              <a:t>▸ 고부하(100%): 출력 우선(λ 증가 제한), 점화시기 지각 + SCR 의존</a:t>
            </a:r>
          </a:p>
          <a:p>
            <a:pPr>
              <a:lnSpc>
                <a:spcPts val="1300"/>
              </a:lnSpc>
              <a:defRPr sz="800">
                <a:solidFill>
                  <a:srgbClr val="333333"/>
                </a:solidFill>
              </a:defRPr>
            </a:pPr>
            <a:r>
              <a:t>▸ 최적 조합: 이른 분사시기 + 높은 분사압력 + 지각 점화시기 → Euro 7 대응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핵심결과 (2) - 통합제어 전략 및 고성능화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운전영역별 연소-후처리 통합제어 · 2-Stage 터보차저 · 향후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</a:defRPr>
            </a:pPr>
            <a:r>
              <a:t>5  운전영역별 연소-후처리 통합제어 전략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50876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운전영역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열효율 지배인자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NOx 제어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제한 요소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중속 저부하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공기과잉률 지배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중속 중/고부하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연소상+λ 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λ+지각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NOx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고속 저/중부하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연소상+λ 동시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가능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고속 고부하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연소상 지배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λ+지각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노킹/조기점화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474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</a:defRPr>
            </a:pPr>
            <a:r>
              <a:t>최종 전략 매트릭스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749039"/>
          <a:ext cx="55778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31720"/>
                <a:gridCol w="233172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부하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중속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고속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저부하</a:t>
                      </a:r>
                    </a:p>
                  </a:txBody>
                  <a:tcPr anchor="ctr"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 + 최적 연소상</a:t>
                      </a:r>
                      <a:br/>
                      <a:r>
                        <a:t>→ 최고 열효율</a:t>
                      </a:r>
                    </a:p>
                  </a:txBody>
                  <a:tcPr anchor="ctr"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+ 최적 연소상</a:t>
                      </a:r>
                    </a:p>
                  </a:txBody>
                  <a:tcPr anchor="ctr">
                    <a:solidFill>
                      <a:srgbClr val="CCE5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고부하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 + 지각 연소상</a:t>
                      </a:r>
                      <a:br/>
                      <a:r>
                        <a:t>→ NOx 억제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+ 지각 연소상</a:t>
                      </a:r>
                      <a:br/>
                      <a:r>
                        <a:t>→ 출력 확보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4846320"/>
            <a:ext cx="260604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디젤: DOC→DPF→SCR</a:t>
            </a:r>
            <a:br/>
            <a:r>
              <a:t>(3단 구성)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33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846320"/>
            <a:ext cx="2606040" cy="457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수소: DOC→SCR</a:t>
            </a:r>
            <a:br/>
            <a:r>
              <a:t>(2단, DPF삭제+축소)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394960"/>
            <a:ext cx="5577840" cy="384048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007A33"/>
                </a:solidFill>
              </a:defRPr>
            </a:pPr>
            <a:r>
              <a:t>전영역 TC후단 400℃↑ → SCR 99% → Euro 7 충족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143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</a:defRPr>
            </a:pPr>
            <a:r>
              <a:t>6  2-Stage 터보차저 적용 성과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09360" y="150876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1645920"/>
                <a:gridCol w="21031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속도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토크↑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제한 요소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최적화 전략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저속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86C00"/>
                          </a:solidFill>
                        </a:defRPr>
                      </a:pPr>
                      <a:r>
                        <a:t>+42.6%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조기점화, 배기에너지↓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점화시기 지각+적정 당량비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중속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6C00"/>
                          </a:solidFill>
                        </a:defRPr>
                      </a:pPr>
                      <a:r>
                        <a:t>+6.1%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인터쿨러 전단온도, NOx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고정 과급압 당량비 최적화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고속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6C00"/>
                          </a:solidFill>
                        </a:defRPr>
                      </a:pPr>
                      <a:r>
                        <a:t>+3.4%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인터쿨러 전단온도, 조기점화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333333"/>
                          </a:solidFill>
                        </a:defRPr>
                      </a:pPr>
                      <a:r>
                        <a:t>NOx 마진 당량비 상향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30936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</a:defRPr>
            </a:pPr>
            <a:r>
              <a:t>저속 토크 향상 메커니즘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40"/>
            <a:ext cx="5486400" cy="12801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▸ 점화시기 지각 → 배기에너지 확보 → 과급압 형성 (가장 효과적)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한계: 실린더 압력/온도↑ → 조기점화 발생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▸ 당량비 최적화: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낮은 당량비: VGT duty↑ → 배기압↑ → 잔여가스↑ → 조기점화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높은 당량비: 연소온도↑ → 조기점화 재발생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적정 당량비: 조기점화 최소 + 열효율 최적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</a:defRPr>
            </a:pPr>
            <a:r>
              <a:t>향후 고성능화 로드맵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983480"/>
            <a:ext cx="1737360" cy="32004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하이브리드화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349240"/>
            <a:ext cx="1737360" cy="38404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저속토크/반응성 보완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983480"/>
            <a:ext cx="173736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2단 인터쿨러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5349240"/>
            <a:ext cx="1737360" cy="38404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중/고속 토크 추가향상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4983480"/>
            <a:ext cx="1737360" cy="320040"/>
          </a:xfrm>
          <a:prstGeom prst="roundRect">
            <a:avLst/>
          </a:prstGeom>
          <a:solidFill>
            <a:srgbClr val="6C3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Blowby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5349240"/>
            <a:ext cx="1737360" cy="38404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C3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5%↑ H₂ 열점 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943600"/>
            <a:ext cx="11430000" cy="384048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E86C00"/>
                </a:solidFill>
              </a:defRPr>
            </a:pPr>
            <a:r>
              <a:t>300kW 출력 + 41.4% 열효율 + Euro 7 충족 + 저속토크 42.6%↑ → 친환경 대형 동력원 상용화 기반 완성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